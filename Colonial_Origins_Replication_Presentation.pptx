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791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0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29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754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78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305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47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56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097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32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2238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94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8777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506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26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200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46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1134" y="1052052"/>
            <a:ext cx="8070918" cy="3972231"/>
          </a:xfrm>
        </p:spPr>
        <p:txBody>
          <a:bodyPr>
            <a:normAutofit/>
          </a:bodyPr>
          <a:lstStyle/>
          <a:p>
            <a:pPr algn="r"/>
            <a:r>
              <a:rPr dirty="0"/>
              <a:t>Replication of</a:t>
            </a:r>
            <a:r>
              <a:rPr lang="en-US" dirty="0"/>
              <a:t> Acemoglu’s</a:t>
            </a:r>
            <a:r>
              <a:rPr dirty="0"/>
              <a:t> Colonial Origins of Comparative Development</a:t>
            </a:r>
            <a:r>
              <a:rPr lang="en-US" dirty="0"/>
              <a:t> Paper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endParaRPr dirty="0"/>
          </a:p>
          <a:p>
            <a:pPr lvl="1"/>
            <a:r>
              <a:rPr dirty="0"/>
              <a:t>Based on </a:t>
            </a:r>
            <a:r>
              <a:rPr dirty="0" err="1"/>
              <a:t>RPubs</a:t>
            </a:r>
            <a:r>
              <a:rPr dirty="0"/>
              <a:t> analysis (Agniva Ganguly</a:t>
            </a:r>
            <a:r>
              <a:rPr lang="en-US" dirty="0"/>
              <a:t>, 2024</a:t>
            </a:r>
            <a:r>
              <a:rPr dirty="0"/>
              <a:t>)</a:t>
            </a:r>
          </a:p>
          <a:p>
            <a:pPr lvl="1"/>
            <a:r>
              <a:rPr dirty="0"/>
              <a:t>20‑Minute Presentation</a:t>
            </a:r>
            <a:endParaRPr lang="en-US" dirty="0"/>
          </a:p>
          <a:p>
            <a:pPr lvl="1"/>
            <a:r>
              <a:rPr lang="en-US" dirty="0"/>
              <a:t>Emily Green, Dylan Landon, and Christian Amelia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Background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8427" y="1700981"/>
            <a:ext cx="4876800" cy="4925961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lnSpc>
                <a:spcPct val="150000"/>
              </a:lnSpc>
            </a:pPr>
            <a:r>
              <a:rPr sz="2400" dirty="0"/>
              <a:t>Large cross‑country income</a:t>
            </a:r>
            <a:r>
              <a:rPr lang="en-US" sz="2400" dirty="0"/>
              <a:t> </a:t>
            </a:r>
            <a:r>
              <a:rPr sz="2400" dirty="0"/>
              <a:t>differences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sz="2400" dirty="0"/>
              <a:t>Hypothesis: institutions</a:t>
            </a:r>
            <a:r>
              <a:rPr lang="en-US" sz="2400" dirty="0"/>
              <a:t> e</a:t>
            </a:r>
            <a:r>
              <a:rPr sz="2400" dirty="0"/>
              <a:t>xplain persistent inequality</a:t>
            </a:r>
          </a:p>
          <a:p>
            <a:pPr>
              <a:lnSpc>
                <a:spcPct val="150000"/>
              </a:lnSpc>
            </a:pPr>
            <a:r>
              <a:rPr sz="2400" dirty="0"/>
              <a:t>Institutions </a:t>
            </a:r>
            <a:r>
              <a:rPr lang="en-US" sz="2400" dirty="0"/>
              <a:t>are </a:t>
            </a:r>
            <a:r>
              <a:rPr sz="2400" dirty="0"/>
              <a:t>endogenous</a:t>
            </a:r>
            <a:r>
              <a:rPr lang="en-US" sz="2400" dirty="0"/>
              <a:t>;</a:t>
            </a:r>
            <a:r>
              <a:rPr sz="2400" dirty="0"/>
              <a:t> need</a:t>
            </a:r>
            <a:r>
              <a:rPr lang="en-US" sz="2400" dirty="0"/>
              <a:t> an</a:t>
            </a:r>
            <a:r>
              <a:rPr sz="2400" dirty="0"/>
              <a:t> instrument</a:t>
            </a:r>
          </a:p>
        </p:txBody>
      </p:sp>
      <p:pic>
        <p:nvPicPr>
          <p:cNvPr id="6" name="Content Placeholder 5" descr="A diagram of a colonial origin&#10;&#10;AI-generated content may be incorrect.">
            <a:extLst>
              <a:ext uri="{FF2B5EF4-FFF2-40B4-BE49-F238E27FC236}">
                <a16:creationId xmlns:a16="http://schemas.microsoft.com/office/drawing/2014/main" id="{C169EE81-8702-40D7-E330-180919D827F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37175" y="2421731"/>
            <a:ext cx="3197225" cy="31972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Background &amp; Motivation</a:t>
            </a:r>
            <a:r>
              <a:rPr lang="en-US" dirty="0"/>
              <a:t> II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/>
              <a:t>Settler mortality → institutional type</a:t>
            </a:r>
          </a:p>
          <a:p>
            <a:pPr>
              <a:lnSpc>
                <a:spcPct val="200000"/>
              </a:lnSpc>
            </a:pPr>
            <a:r>
              <a:rPr sz="2400" dirty="0"/>
              <a:t>High mortality → extractive institutions</a:t>
            </a:r>
          </a:p>
          <a:p>
            <a:pPr>
              <a:lnSpc>
                <a:spcPct val="200000"/>
              </a:lnSpc>
            </a:pPr>
            <a:r>
              <a:rPr sz="2400" dirty="0"/>
              <a:t>Low mortality → inclusive institutions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EC7880-C5D9-40A8-A6B0-3198AD07A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645106"/>
            <a:ext cx="2737709" cy="1259894"/>
          </a:xfrm>
        </p:spPr>
        <p:txBody>
          <a:bodyPr>
            <a:normAutofit/>
          </a:bodyPr>
          <a:lstStyle/>
          <a:p>
            <a:r>
              <a:rPr dirty="0"/>
              <a:t>Data &amp; Variables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543A62-A2AB-454A-878E-D3D9190D5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918" y="2133600"/>
            <a:ext cx="2737709" cy="3759253"/>
          </a:xfrm>
        </p:spPr>
        <p:txBody>
          <a:bodyPr>
            <a:normAutofit/>
          </a:bodyPr>
          <a:lstStyle/>
          <a:p>
            <a:r>
              <a:rPr lang="en-US" dirty="0"/>
              <a:t>Outcome: </a:t>
            </a:r>
          </a:p>
          <a:p>
            <a:pPr marL="457200" lvl="1" indent="0">
              <a:buNone/>
            </a:pPr>
            <a:r>
              <a:rPr lang="en-US" dirty="0"/>
              <a:t>log GDP per capita</a:t>
            </a:r>
          </a:p>
          <a:p>
            <a:r>
              <a:rPr lang="en-US" dirty="0"/>
              <a:t>Institution measure: </a:t>
            </a:r>
          </a:p>
          <a:p>
            <a:pPr marL="457200" lvl="1" indent="0">
              <a:buNone/>
            </a:pPr>
            <a:r>
              <a:rPr lang="en-US" dirty="0"/>
              <a:t>expropriation risk</a:t>
            </a:r>
          </a:p>
          <a:p>
            <a:r>
              <a:rPr lang="en-US" dirty="0"/>
              <a:t>Instrument: </a:t>
            </a:r>
          </a:p>
          <a:p>
            <a:pPr marL="0" indent="0">
              <a:buNone/>
            </a:pPr>
            <a:r>
              <a:rPr lang="en-US" b="1" dirty="0"/>
              <a:t>	settler mortality</a:t>
            </a:r>
          </a:p>
        </p:txBody>
      </p:sp>
      <p:pic>
        <p:nvPicPr>
          <p:cNvPr id="5" name="Picture 4" descr="A screenshot of a data sheet&#10;&#10;AI-generated content may be incorrect.">
            <a:extLst>
              <a:ext uri="{FF2B5EF4-FFF2-40B4-BE49-F238E27FC236}">
                <a16:creationId xmlns:a16="http://schemas.microsoft.com/office/drawing/2014/main" id="{3D5F5C76-F091-6926-F788-4C9F6549C1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985" r="1267" b="2"/>
          <a:stretch>
            <a:fillRect/>
          </a:stretch>
        </p:blipFill>
        <p:spPr>
          <a:xfrm>
            <a:off x="3096669" y="1061588"/>
            <a:ext cx="5860518" cy="5252773"/>
          </a:xfrm>
          <a:prstGeom prst="rect">
            <a:avLst/>
          </a:prstGeom>
        </p:spPr>
      </p:pic>
      <p:sp>
        <p:nvSpPr>
          <p:cNvPr id="14" name="Freeform 11">
            <a:extLst>
              <a:ext uri="{FF2B5EF4-FFF2-40B4-BE49-F238E27FC236}">
                <a16:creationId xmlns:a16="http://schemas.microsoft.com/office/drawing/2014/main" id="{50553464-41F1-4160-9D02-7C5EC7013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61223"/>
            <a:ext cx="77852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Variables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dirty="0"/>
              <a:t>Sample: ~75 former colonies</a:t>
            </a:r>
          </a:p>
          <a:p>
            <a:pPr>
              <a:lnSpc>
                <a:spcPct val="150000"/>
              </a:lnSpc>
            </a:pPr>
            <a:r>
              <a:rPr sz="2400" dirty="0"/>
              <a:t>Controls: 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sz="2200" dirty="0"/>
              <a:t>geography,</a:t>
            </a:r>
            <a:endParaRPr lang="en-US" sz="2200" dirty="0"/>
          </a:p>
          <a:p>
            <a:pPr lvl="1">
              <a:lnSpc>
                <a:spcPct val="150000"/>
              </a:lnSpc>
            </a:pPr>
            <a:r>
              <a:rPr sz="2200" dirty="0"/>
              <a:t>legal origin, </a:t>
            </a:r>
            <a:endParaRPr lang="en-US" sz="2200" dirty="0"/>
          </a:p>
          <a:p>
            <a:pPr lvl="1">
              <a:lnSpc>
                <a:spcPct val="150000"/>
              </a:lnSpc>
            </a:pPr>
            <a:r>
              <a:rPr sz="2200" dirty="0"/>
              <a:t>continent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751" y="624110"/>
            <a:ext cx="6029784" cy="1280890"/>
          </a:xfrm>
        </p:spPr>
        <p:txBody>
          <a:bodyPr>
            <a:normAutofit/>
          </a:bodyPr>
          <a:lstStyle/>
          <a:p>
            <a:r>
              <a:rPr lang="en-US" sz="2800" dirty="0"/>
              <a:t>Econometric Model I (OLS)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2967" y="1160206"/>
            <a:ext cx="6160388" cy="4751016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log(y) = </a:t>
            </a:r>
            <a:r>
              <a:rPr lang="el-GR" sz="1400" dirty="0">
                <a:solidFill>
                  <a:schemeClr val="tx1"/>
                </a:solidFill>
              </a:rPr>
              <a:t>α + β*</a:t>
            </a:r>
            <a:r>
              <a:rPr lang="en-US" sz="1400" dirty="0">
                <a:solidFill>
                  <a:schemeClr val="tx1"/>
                </a:solidFill>
              </a:rPr>
              <a:t>Institutions + controls</a:t>
            </a:r>
          </a:p>
          <a:p>
            <a:r>
              <a:rPr lang="en-US" sz="1400" dirty="0">
                <a:solidFill>
                  <a:schemeClr val="tx1"/>
                </a:solidFill>
              </a:rPr>
              <a:t>Shows correlation, not causation</a:t>
            </a:r>
          </a:p>
        </p:txBody>
      </p:sp>
      <p:pic>
        <p:nvPicPr>
          <p:cNvPr id="5" name="Picture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6E254816-1C4F-B75C-E458-0186923B5C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23" t="-1" r="285" b="4"/>
          <a:stretch>
            <a:fillRect/>
          </a:stretch>
        </p:blipFill>
        <p:spPr>
          <a:xfrm>
            <a:off x="1595697" y="1905000"/>
            <a:ext cx="6029784" cy="47827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Econometric Model II (2SLS)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dirty="0"/>
              <a:t>First stage: mortality → institutions</a:t>
            </a:r>
          </a:p>
          <a:p>
            <a:pPr>
              <a:lnSpc>
                <a:spcPct val="150000"/>
              </a:lnSpc>
            </a:pPr>
            <a:r>
              <a:rPr sz="2400" dirty="0"/>
              <a:t>Second stage: predicted institutions → income</a:t>
            </a:r>
          </a:p>
          <a:p>
            <a:pPr>
              <a:lnSpc>
                <a:spcPct val="150000"/>
              </a:lnSpc>
            </a:pPr>
            <a:r>
              <a:rPr sz="2400" dirty="0"/>
              <a:t>Identification: exclusion restriction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dirty="0"/>
              <a:t>Uses public replication data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Add scatterplots to check IV relevance</a:t>
            </a:r>
            <a:endParaRPr sz="2400" dirty="0"/>
          </a:p>
          <a:p>
            <a:pPr>
              <a:lnSpc>
                <a:spcPct val="150000"/>
              </a:lnSpc>
            </a:pPr>
            <a:r>
              <a:rPr sz="2400" dirty="0"/>
              <a:t>Checks consistency with original results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Robustness and overidentification checks</a:t>
            </a:r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751" y="624110"/>
            <a:ext cx="6615281" cy="486936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Replication: First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2968" y="1111046"/>
            <a:ext cx="7552474" cy="493579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Strong negative relationship</a:t>
            </a:r>
          </a:p>
          <a:p>
            <a:r>
              <a:rPr lang="en-US" sz="2400" dirty="0">
                <a:solidFill>
                  <a:schemeClr val="tx1"/>
                </a:solidFill>
              </a:rPr>
              <a:t>Higher mortality → weaker institutions</a:t>
            </a:r>
          </a:p>
        </p:txBody>
      </p:sp>
      <p:pic>
        <p:nvPicPr>
          <p:cNvPr id="9" name="Picture 8" descr="A graph with a line and a blue line&#10;&#10;AI-generated content may be incorrect.">
            <a:extLst>
              <a:ext uri="{FF2B5EF4-FFF2-40B4-BE49-F238E27FC236}">
                <a16:creationId xmlns:a16="http://schemas.microsoft.com/office/drawing/2014/main" id="{25AB26D4-B80D-9C1C-1A2D-EF3A936303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2" r="-48" b="-4"/>
          <a:stretch>
            <a:fillRect/>
          </a:stretch>
        </p:blipFill>
        <p:spPr>
          <a:xfrm>
            <a:off x="1564348" y="2057285"/>
            <a:ext cx="3272104" cy="2271783"/>
          </a:xfrm>
          <a:prstGeom prst="rect">
            <a:avLst/>
          </a:prstGeom>
        </p:spPr>
      </p:pic>
      <p:pic>
        <p:nvPicPr>
          <p:cNvPr id="11" name="Picture 10" descr="A graph with a line and dots&#10;&#10;AI-generated content may be incorrect.">
            <a:extLst>
              <a:ext uri="{FF2B5EF4-FFF2-40B4-BE49-F238E27FC236}">
                <a16:creationId xmlns:a16="http://schemas.microsoft.com/office/drawing/2014/main" id="{A4D7F02A-97D4-2BA4-A194-A31F7295AE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1" t="-1" r="1963" b="2"/>
          <a:stretch>
            <a:fillRect/>
          </a:stretch>
        </p:blipFill>
        <p:spPr>
          <a:xfrm>
            <a:off x="5137832" y="4421556"/>
            <a:ext cx="3272104" cy="2242887"/>
          </a:xfrm>
          <a:prstGeom prst="rect">
            <a:avLst/>
          </a:prstGeom>
        </p:spPr>
      </p:pic>
      <p:pic>
        <p:nvPicPr>
          <p:cNvPr id="5" name="Picture 4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0B378805-16D8-D541-9CF8-51C08513E6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5" r="-370" b="2"/>
          <a:stretch>
            <a:fillRect/>
          </a:stretch>
        </p:blipFill>
        <p:spPr>
          <a:xfrm>
            <a:off x="1560325" y="4392661"/>
            <a:ext cx="3276127" cy="2271783"/>
          </a:xfrm>
          <a:prstGeom prst="rect">
            <a:avLst/>
          </a:prstGeom>
        </p:spPr>
      </p:pic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F970C926-AD0D-2F81-B80B-763956BFC1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18" r="114" b="4"/>
          <a:stretch>
            <a:fillRect/>
          </a:stretch>
        </p:blipFill>
        <p:spPr>
          <a:xfrm>
            <a:off x="5137832" y="2048866"/>
            <a:ext cx="3272104" cy="23437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— Second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376516"/>
            <a:ext cx="8013290" cy="45347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dirty="0"/>
              <a:t>Instrumented institutions</a:t>
            </a:r>
            <a:r>
              <a:rPr lang="en-US" sz="2400" dirty="0"/>
              <a:t> → </a:t>
            </a:r>
            <a:r>
              <a:rPr sz="2400" dirty="0"/>
              <a:t>strongly predict income</a:t>
            </a:r>
          </a:p>
          <a:p>
            <a:pPr>
              <a:lnSpc>
                <a:spcPct val="150000"/>
              </a:lnSpc>
            </a:pPr>
            <a:r>
              <a:rPr sz="2400" dirty="0"/>
              <a:t>Magnitude similar to original findings</a:t>
            </a:r>
          </a:p>
        </p:txBody>
      </p:sp>
      <p:pic>
        <p:nvPicPr>
          <p:cNvPr id="5" name="Picture 4" descr="A screenshot of a table&#10;&#10;AI-generated content may be incorrect.">
            <a:extLst>
              <a:ext uri="{FF2B5EF4-FFF2-40B4-BE49-F238E27FC236}">
                <a16:creationId xmlns:a16="http://schemas.microsoft.com/office/drawing/2014/main" id="{8C03D07F-C95B-178A-AC2D-76E6CF22D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604" y="2657406"/>
            <a:ext cx="5733283" cy="40101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3938" y="1543665"/>
            <a:ext cx="7030462" cy="436755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dirty="0"/>
              <a:t>Reduced form: mortality negatively linked with income</a:t>
            </a:r>
          </a:p>
        </p:txBody>
      </p:sp>
      <p:pic>
        <p:nvPicPr>
          <p:cNvPr id="5" name="Picture 4" descr="A graph of the origin of development&#10;&#10;AI-generated content may be incorrect.">
            <a:extLst>
              <a:ext uri="{FF2B5EF4-FFF2-40B4-BE49-F238E27FC236}">
                <a16:creationId xmlns:a16="http://schemas.microsoft.com/office/drawing/2014/main" id="{FBA02EDB-F53D-62FD-0CB0-7A2559215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938" y="2902298"/>
            <a:ext cx="6136123" cy="36906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Robustness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445" y="1199535"/>
            <a:ext cx="8514590" cy="253672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dirty="0"/>
              <a:t>Exclude outliers: results stable</a:t>
            </a:r>
          </a:p>
          <a:p>
            <a:pPr>
              <a:lnSpc>
                <a:spcPct val="150000"/>
              </a:lnSpc>
            </a:pPr>
            <a:r>
              <a:rPr sz="2400" dirty="0"/>
              <a:t>Add controls: geography, disease, colonizer identity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0BE2AC-5675-195E-3923-A274A1EFD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45" y="2585884"/>
            <a:ext cx="4208710" cy="4032729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A6FE5D-02C7-6462-FE6D-0C62E37D9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386" y="2585885"/>
            <a:ext cx="4076649" cy="39516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Critiques &amp; Debates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587" y="1553497"/>
            <a:ext cx="7806813" cy="4357725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sz="2400" dirty="0"/>
              <a:t>Instrument validity questioned (</a:t>
            </a:r>
            <a:r>
              <a:rPr sz="2400" dirty="0" err="1"/>
              <a:t>Albouy</a:t>
            </a:r>
            <a:r>
              <a:rPr sz="2400" dirty="0"/>
              <a:t> 2012)</a:t>
            </a:r>
          </a:p>
          <a:p>
            <a:pPr lvl="1">
              <a:lnSpc>
                <a:spcPct val="150000"/>
              </a:lnSpc>
            </a:pPr>
            <a:r>
              <a:rPr sz="2400" dirty="0"/>
              <a:t>Mortality data quality issues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Checked alternative instruments – </a:t>
            </a:r>
            <a:r>
              <a:rPr lang="en-US" sz="2400" dirty="0" err="1"/>
              <a:t>Sargan</a:t>
            </a:r>
            <a:r>
              <a:rPr lang="en-US" sz="2400" dirty="0"/>
              <a:t> test</a:t>
            </a:r>
            <a:endParaRPr sz="2400" dirty="0"/>
          </a:p>
        </p:txBody>
      </p:sp>
      <p:pic>
        <p:nvPicPr>
          <p:cNvPr id="5" name="Picture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5D927562-2572-2460-2156-FB1CA71DE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28" y="3732359"/>
            <a:ext cx="7384550" cy="30063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dirty="0"/>
              <a:t>Confirms general findings</a:t>
            </a:r>
            <a:r>
              <a:rPr lang="en-US" sz="2400" dirty="0"/>
              <a:t>, importance of institutions driving income differences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Strengthens credibility of IV</a:t>
            </a:r>
            <a:endParaRPr sz="2400" dirty="0"/>
          </a:p>
          <a:p>
            <a:pPr>
              <a:lnSpc>
                <a:spcPct val="150000"/>
              </a:lnSpc>
            </a:pPr>
            <a:r>
              <a:rPr sz="2400" dirty="0"/>
              <a:t>Highlights transparency &amp; limitations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Supports policy relevance</a:t>
            </a:r>
          </a:p>
          <a:p>
            <a:pPr>
              <a:lnSpc>
                <a:spcPct val="150000"/>
              </a:lnSpc>
            </a:pPr>
            <a:endParaRPr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8865" y="1337187"/>
            <a:ext cx="7295535" cy="526025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sz="2400" dirty="0"/>
              <a:t>Strengthening institutions may raise incomes</a:t>
            </a:r>
          </a:p>
          <a:p>
            <a:pPr>
              <a:lnSpc>
                <a:spcPct val="150000"/>
              </a:lnSpc>
            </a:pPr>
            <a:r>
              <a:rPr sz="2400" dirty="0"/>
              <a:t>Institutional reform is long‑run and difficult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200" dirty="0"/>
              <a:t>Must account for historical legacies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Pushes back on “geography is destiny”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Spurs policy/research focusing on: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Anti-corruption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Judicial independence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Tax administration and state capacity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Developing inclusive political institutions</a:t>
            </a:r>
            <a:endParaRPr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Science Lessons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743" y="1494503"/>
            <a:ext cx="7698658" cy="52307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Key paper for the value of transparency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Shapes development policy, and institutions research</a:t>
            </a:r>
          </a:p>
          <a:p>
            <a:pPr>
              <a:lnSpc>
                <a:spcPct val="150000"/>
              </a:lnSpc>
            </a:pPr>
            <a:r>
              <a:rPr sz="2400" dirty="0"/>
              <a:t>Value of shared data and reproducibility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000" dirty="0"/>
              <a:t>verify claims,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identify limitations/challenge weak assumptions, 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And improve future empirical strategies</a:t>
            </a:r>
            <a:endParaRPr sz="2000" dirty="0"/>
          </a:p>
          <a:p>
            <a:pPr>
              <a:lnSpc>
                <a:spcPct val="150000"/>
              </a:lnSpc>
            </a:pPr>
            <a:r>
              <a:rPr sz="2400" dirty="0"/>
              <a:t>Replications increase credibility</a:t>
            </a:r>
            <a:r>
              <a:rPr lang="en-US" sz="2400" dirty="0"/>
              <a:t>, field progresses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4065" y="1905000"/>
            <a:ext cx="7600335" cy="432889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dirty="0"/>
              <a:t>Instrument validity contested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Data quality concerns persist</a:t>
            </a:r>
            <a:endParaRPr sz="2400" dirty="0"/>
          </a:p>
          <a:p>
            <a:pPr>
              <a:lnSpc>
                <a:spcPct val="150000"/>
              </a:lnSpc>
            </a:pPr>
            <a:r>
              <a:rPr sz="2400" dirty="0"/>
              <a:t>Institutions measured narrowly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The model is cross-sectional, a static snapshot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Replication can confirm robustness but may not prove validity of theory</a:t>
            </a:r>
            <a:endParaRPr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717" y="2133600"/>
            <a:ext cx="7462684" cy="3777622"/>
          </a:xfrm>
        </p:spPr>
        <p:txBody>
          <a:bodyPr>
            <a:normAutofit/>
          </a:bodyPr>
          <a:lstStyle/>
          <a:p>
            <a:r>
              <a:rPr sz="2800" dirty="0"/>
              <a:t>Use richer institutional measures</a:t>
            </a:r>
            <a:r>
              <a:rPr lang="en-US" sz="2800" dirty="0"/>
              <a:t> → multi-dimensional </a:t>
            </a:r>
          </a:p>
          <a:p>
            <a:r>
              <a:rPr sz="2800" dirty="0"/>
              <a:t>Seek alternative instruments</a:t>
            </a:r>
            <a:endParaRPr lang="en-US" sz="2800" dirty="0"/>
          </a:p>
          <a:p>
            <a:pPr lvl="1"/>
            <a:r>
              <a:rPr lang="en-US" sz="2400" dirty="0"/>
              <a:t>Better historical ones</a:t>
            </a:r>
          </a:p>
          <a:p>
            <a:r>
              <a:rPr lang="en-US" sz="2600" dirty="0"/>
              <a:t>Move from cross-sectional </a:t>
            </a:r>
            <a:r>
              <a:rPr lang="en-US" sz="2400" dirty="0"/>
              <a:t>→</a:t>
            </a:r>
            <a:r>
              <a:rPr lang="en-US" sz="2600" dirty="0"/>
              <a:t> panel or micro data</a:t>
            </a:r>
          </a:p>
          <a:p>
            <a:r>
              <a:rPr lang="en-US" sz="2800" dirty="0"/>
              <a:t>Integrate institutions with other drivers</a:t>
            </a:r>
            <a:endParaRPr 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720645"/>
            <a:ext cx="7924800" cy="4876800"/>
          </a:xfrm>
        </p:spPr>
        <p:txBody>
          <a:bodyPr>
            <a:normAutofit/>
          </a:bodyPr>
          <a:lstStyle/>
          <a:p>
            <a:r>
              <a:rPr sz="2400" dirty="0"/>
              <a:t>Replication supports main conclusions</a:t>
            </a:r>
            <a:endParaRPr lang="en-US" sz="2400" dirty="0"/>
          </a:p>
          <a:p>
            <a:pPr lvl="1"/>
            <a:r>
              <a:rPr lang="en-US" sz="2000" dirty="0"/>
              <a:t>The core empirical relationships are robust</a:t>
            </a:r>
            <a:endParaRPr sz="2000" dirty="0"/>
          </a:p>
          <a:p>
            <a:r>
              <a:rPr sz="2400" dirty="0"/>
              <a:t>But debates about instrument remain</a:t>
            </a:r>
          </a:p>
          <a:p>
            <a:r>
              <a:rPr sz="2400" dirty="0"/>
              <a:t>Open science improves research quality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 algn="ctr">
              <a:buNone/>
            </a:pPr>
            <a:r>
              <a:rPr lang="en-US" sz="2400" b="1" dirty="0"/>
              <a:t>Overall Takeaway:</a:t>
            </a:r>
          </a:p>
          <a:p>
            <a:pPr marL="0" indent="0" algn="ctr">
              <a:buNone/>
            </a:pPr>
            <a:r>
              <a:rPr lang="en-US" sz="2400" dirty="0"/>
              <a:t>Institutions matter hugely — but </a:t>
            </a:r>
            <a:r>
              <a:rPr lang="en-US" sz="2400" i="1" dirty="0"/>
              <a:t>why</a:t>
            </a:r>
            <a:r>
              <a:rPr lang="en-US" sz="2400" dirty="0"/>
              <a:t> they differ, </a:t>
            </a:r>
            <a:r>
              <a:rPr lang="en-US" sz="2400" i="1" dirty="0"/>
              <a:t>how</a:t>
            </a:r>
            <a:r>
              <a:rPr lang="en-US" sz="2400" dirty="0"/>
              <a:t> they persist, and </a:t>
            </a:r>
            <a:r>
              <a:rPr lang="en-US" sz="2400" i="1" dirty="0"/>
              <a:t>how</a:t>
            </a:r>
            <a:r>
              <a:rPr lang="en-US" sz="2400" dirty="0"/>
              <a:t> to change them remains central challenges.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47</TotalTime>
  <Words>468</Words>
  <Application>Microsoft Office PowerPoint</Application>
  <PresentationFormat>On-screen Show (4:3)</PresentationFormat>
  <Paragraphs>98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Wisp</vt:lpstr>
      <vt:lpstr>Replication of Acemoglu’s Colonial Origins of Comparative Development Paper</vt:lpstr>
      <vt:lpstr>Background &amp; Motivation</vt:lpstr>
      <vt:lpstr>Background &amp; Motivation II</vt:lpstr>
      <vt:lpstr>Data &amp; Variables</vt:lpstr>
      <vt:lpstr>Data &amp; Variables II</vt:lpstr>
      <vt:lpstr>Econometric Model I (OLS)</vt:lpstr>
      <vt:lpstr>Econometric Model II (2SLS)</vt:lpstr>
      <vt:lpstr>Replication Approach</vt:lpstr>
      <vt:lpstr>Replication: First Stage</vt:lpstr>
      <vt:lpstr>Replication — Second Stage</vt:lpstr>
      <vt:lpstr>Replication Plot</vt:lpstr>
      <vt:lpstr>Robustness Tests</vt:lpstr>
      <vt:lpstr>Critiques &amp; Debates</vt:lpstr>
      <vt:lpstr>Replication Value</vt:lpstr>
      <vt:lpstr>Policy Implications</vt:lpstr>
      <vt:lpstr>Open Science Lessons</vt:lpstr>
      <vt:lpstr>Limitations</vt:lpstr>
      <vt:lpstr>Future Research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Emily</dc:creator>
  <cp:keywords/>
  <dc:description>generated using python-pptx</dc:description>
  <cp:lastModifiedBy>Emily Green</cp:lastModifiedBy>
  <cp:revision>2</cp:revision>
  <dcterms:created xsi:type="dcterms:W3CDTF">2013-01-27T09:14:16Z</dcterms:created>
  <dcterms:modified xsi:type="dcterms:W3CDTF">2025-12-08T01:08:06Z</dcterms:modified>
  <cp:category/>
</cp:coreProperties>
</file>