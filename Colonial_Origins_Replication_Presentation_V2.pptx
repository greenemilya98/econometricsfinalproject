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2"/>
  </p:normalViewPr>
  <p:slideViewPr>
    <p:cSldViewPr snapToGrid="0" snapToObjects="1">
      <p:cViewPr varScale="1">
        <p:scale>
          <a:sx n="106" d="100"/>
          <a:sy n="106" d="100"/>
        </p:scale>
        <p:origin x="17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91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0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2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5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7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0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5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97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223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94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8777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06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26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00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4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134" y="1052052"/>
            <a:ext cx="8070918" cy="3972231"/>
          </a:xfrm>
        </p:spPr>
        <p:txBody>
          <a:bodyPr>
            <a:normAutofit/>
          </a:bodyPr>
          <a:lstStyle/>
          <a:p>
            <a:pPr algn="r"/>
            <a:r>
              <a:rPr dirty="0"/>
              <a:t>Replication of</a:t>
            </a:r>
            <a:r>
              <a:rPr lang="en-US" dirty="0"/>
              <a:t> Acemoglu’s</a:t>
            </a:r>
            <a:r>
              <a:rPr dirty="0"/>
              <a:t> Colonial Origins of Comparative Development</a:t>
            </a:r>
            <a:r>
              <a:rPr lang="en-US" dirty="0"/>
              <a:t> Paper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pPr lvl="1"/>
            <a:r>
              <a:rPr dirty="0"/>
              <a:t>Based on </a:t>
            </a:r>
            <a:r>
              <a:rPr dirty="0" err="1"/>
              <a:t>RPubs</a:t>
            </a:r>
            <a:r>
              <a:rPr dirty="0"/>
              <a:t> analysis (Agniva Ganguly</a:t>
            </a:r>
            <a:r>
              <a:rPr lang="en-US" dirty="0"/>
              <a:t>, 2024</a:t>
            </a:r>
            <a:r>
              <a:rPr dirty="0"/>
              <a:t>)</a:t>
            </a:r>
          </a:p>
          <a:p>
            <a:pPr lvl="1"/>
            <a:r>
              <a:rPr dirty="0"/>
              <a:t>20‑Minute Presentation</a:t>
            </a:r>
            <a:endParaRPr lang="en-US" dirty="0"/>
          </a:p>
          <a:p>
            <a:pPr lvl="1"/>
            <a:r>
              <a:rPr lang="en-US" dirty="0"/>
              <a:t>Emily Green, Dylan Landon, and Christian Amelia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427" y="1700982"/>
            <a:ext cx="4876800" cy="4338872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pPr>
              <a:lnSpc>
                <a:spcPct val="150000"/>
              </a:lnSpc>
            </a:pPr>
            <a:r>
              <a:rPr sz="2400" dirty="0"/>
              <a:t>Large cross‑country income</a:t>
            </a:r>
            <a:r>
              <a:rPr lang="en-US" sz="2400" dirty="0"/>
              <a:t> </a:t>
            </a:r>
            <a:r>
              <a:rPr sz="2400" dirty="0"/>
              <a:t>differences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sz="2400" dirty="0"/>
              <a:t>Hypothesis: institutions</a:t>
            </a:r>
            <a:r>
              <a:rPr lang="en-US" sz="2400" dirty="0"/>
              <a:t> e</a:t>
            </a:r>
            <a:r>
              <a:rPr sz="2400" dirty="0"/>
              <a:t>xplain persistent inequality</a:t>
            </a:r>
          </a:p>
          <a:p>
            <a:pPr>
              <a:lnSpc>
                <a:spcPct val="150000"/>
              </a:lnSpc>
            </a:pPr>
            <a:r>
              <a:rPr sz="2400" dirty="0"/>
              <a:t>Institutions </a:t>
            </a:r>
            <a:r>
              <a:rPr lang="en-US" sz="2400" dirty="0"/>
              <a:t>are </a:t>
            </a:r>
            <a:r>
              <a:rPr sz="2400" dirty="0"/>
              <a:t>endogenous</a:t>
            </a:r>
            <a:r>
              <a:rPr lang="en-US" sz="2400" dirty="0"/>
              <a:t>;</a:t>
            </a:r>
            <a:r>
              <a:rPr sz="2400" dirty="0"/>
              <a:t> need</a:t>
            </a:r>
            <a:r>
              <a:rPr lang="en-US" sz="2400" dirty="0"/>
              <a:t> an</a:t>
            </a:r>
            <a:r>
              <a:rPr sz="2400" dirty="0"/>
              <a:t> instrument</a:t>
            </a: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Settler mortality → institutional type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High mortality → extractive institutions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Low mortality → inclusive institutions</a:t>
            </a:r>
          </a:p>
        </p:txBody>
      </p:sp>
      <p:pic>
        <p:nvPicPr>
          <p:cNvPr id="6" name="Content Placeholder 5" descr="A diagram of a colonial origin&#10;&#10;AI-generated content may be incorrect.">
            <a:extLst>
              <a:ext uri="{FF2B5EF4-FFF2-40B4-BE49-F238E27FC236}">
                <a16:creationId xmlns:a16="http://schemas.microsoft.com/office/drawing/2014/main" id="{C169EE81-8702-40D7-E330-180919D827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7175" y="2421731"/>
            <a:ext cx="3197225" cy="3197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2737709" cy="1259894"/>
          </a:xfrm>
        </p:spPr>
        <p:txBody>
          <a:bodyPr>
            <a:normAutofit/>
          </a:bodyPr>
          <a:lstStyle/>
          <a:p>
            <a:r>
              <a:rPr dirty="0"/>
              <a:t>Data &amp; Variables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543A62-A2AB-454A-878E-D3D9190D5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2737709" cy="3759253"/>
          </a:xfrm>
        </p:spPr>
        <p:txBody>
          <a:bodyPr>
            <a:normAutofit/>
          </a:bodyPr>
          <a:lstStyle/>
          <a:p>
            <a:r>
              <a:rPr lang="en-US" dirty="0"/>
              <a:t>Outcome: </a:t>
            </a:r>
          </a:p>
          <a:p>
            <a:pPr marL="457200" lvl="1" indent="0">
              <a:buNone/>
            </a:pPr>
            <a:r>
              <a:rPr lang="en-US" dirty="0"/>
              <a:t>log GDP per capita</a:t>
            </a:r>
          </a:p>
          <a:p>
            <a:r>
              <a:rPr lang="en-US" dirty="0"/>
              <a:t>Institution measure: </a:t>
            </a:r>
          </a:p>
          <a:p>
            <a:pPr marL="457200" lvl="1" indent="0">
              <a:buNone/>
            </a:pPr>
            <a:r>
              <a:rPr lang="en-US" dirty="0"/>
              <a:t>expropriation risk</a:t>
            </a:r>
          </a:p>
          <a:p>
            <a:r>
              <a:rPr lang="en-US" dirty="0"/>
              <a:t>Instrument: </a:t>
            </a:r>
          </a:p>
          <a:p>
            <a:pPr marL="0" indent="0">
              <a:buNone/>
            </a:pPr>
            <a:r>
              <a:rPr lang="en-US" b="1" dirty="0"/>
              <a:t>	settler mortality</a:t>
            </a:r>
          </a:p>
        </p:txBody>
      </p:sp>
      <p:pic>
        <p:nvPicPr>
          <p:cNvPr id="5" name="Picture 4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3D5F5C76-F091-6926-F788-4C9F6549C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85" r="1267" b="2"/>
          <a:stretch>
            <a:fillRect/>
          </a:stretch>
        </p:blipFill>
        <p:spPr>
          <a:xfrm>
            <a:off x="3096669" y="1061588"/>
            <a:ext cx="5860518" cy="5252773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50553464-41F1-4160-9D02-7C5EC7013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Variables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Sample: ~75 former colonies</a:t>
            </a:r>
          </a:p>
          <a:p>
            <a:pPr>
              <a:lnSpc>
                <a:spcPct val="150000"/>
              </a:lnSpc>
            </a:pPr>
            <a:r>
              <a:rPr sz="2400" dirty="0"/>
              <a:t>Controls: 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sz="2200" dirty="0"/>
              <a:t>geography</a:t>
            </a:r>
            <a:endParaRPr lang="en-US" sz="2200" dirty="0"/>
          </a:p>
          <a:p>
            <a:pPr lvl="1">
              <a:lnSpc>
                <a:spcPct val="150000"/>
              </a:lnSpc>
            </a:pPr>
            <a:r>
              <a:rPr sz="2200" dirty="0"/>
              <a:t>legal origin </a:t>
            </a:r>
            <a:endParaRPr lang="en-US" sz="2200" dirty="0"/>
          </a:p>
          <a:p>
            <a:pPr lvl="1">
              <a:lnSpc>
                <a:spcPct val="150000"/>
              </a:lnSpc>
            </a:pPr>
            <a:r>
              <a:rPr lang="en-US" sz="2200" dirty="0"/>
              <a:t>c</a:t>
            </a:r>
            <a:r>
              <a:rPr sz="2200" dirty="0"/>
              <a:t>ontinent</a:t>
            </a:r>
            <a:endParaRPr lang="en-US" sz="2200" dirty="0"/>
          </a:p>
          <a:p>
            <a:pPr lvl="1">
              <a:lnSpc>
                <a:spcPct val="150000"/>
              </a:lnSpc>
            </a:pPr>
            <a:r>
              <a:rPr lang="en-US" sz="2200" dirty="0"/>
              <a:t>religion</a:t>
            </a:r>
            <a:endParaRPr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751" y="624110"/>
            <a:ext cx="6029784" cy="1280890"/>
          </a:xfrm>
        </p:spPr>
        <p:txBody>
          <a:bodyPr>
            <a:normAutofit/>
          </a:bodyPr>
          <a:lstStyle/>
          <a:p>
            <a:r>
              <a:rPr lang="en-US" sz="2800" dirty="0"/>
              <a:t>Econometric Model I (OLS)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967" y="1160206"/>
            <a:ext cx="6160388" cy="4751016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log(y) = </a:t>
            </a:r>
            <a:r>
              <a:rPr lang="el-GR" sz="1400" dirty="0">
                <a:solidFill>
                  <a:schemeClr val="tx1"/>
                </a:solidFill>
              </a:rPr>
              <a:t>α + β*</a:t>
            </a:r>
            <a:r>
              <a:rPr lang="en-US" sz="1400" dirty="0">
                <a:solidFill>
                  <a:schemeClr val="tx1"/>
                </a:solidFill>
              </a:rPr>
              <a:t>Institutions + controls</a:t>
            </a:r>
          </a:p>
          <a:p>
            <a:r>
              <a:rPr lang="en-US" sz="1400" dirty="0">
                <a:solidFill>
                  <a:schemeClr val="tx1"/>
                </a:solidFill>
              </a:rPr>
              <a:t>Shows correlation, not causation</a:t>
            </a:r>
          </a:p>
        </p:txBody>
      </p:sp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6E254816-1C4F-B75C-E458-0186923B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23" t="-1" r="285" b="4"/>
          <a:stretch>
            <a:fillRect/>
          </a:stretch>
        </p:blipFill>
        <p:spPr>
          <a:xfrm>
            <a:off x="1595697" y="1905000"/>
            <a:ext cx="6029784" cy="4782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Econometric Model II (2SLS)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First stage: mortality → institutions</a:t>
            </a:r>
          </a:p>
          <a:p>
            <a:pPr>
              <a:lnSpc>
                <a:spcPct val="150000"/>
              </a:lnSpc>
            </a:pPr>
            <a:r>
              <a:rPr sz="2400" dirty="0"/>
              <a:t>Second stage: predicted institutions → income</a:t>
            </a:r>
          </a:p>
          <a:p>
            <a:pPr>
              <a:lnSpc>
                <a:spcPct val="150000"/>
              </a:lnSpc>
            </a:pPr>
            <a:r>
              <a:rPr sz="2400" dirty="0"/>
              <a:t>Identification: exclusion restriction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Uses public replication data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Add scatterplots to check IV relevance</a:t>
            </a:r>
            <a:endParaRPr sz="2400" dirty="0"/>
          </a:p>
          <a:p>
            <a:pPr>
              <a:lnSpc>
                <a:spcPct val="150000"/>
              </a:lnSpc>
            </a:pPr>
            <a:r>
              <a:rPr sz="2400" dirty="0"/>
              <a:t>Checks consistency with original results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Robustness and overidentification checks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291" y="624110"/>
            <a:ext cx="6615281" cy="48693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Replication: First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968" y="1111046"/>
            <a:ext cx="7552474" cy="493579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Strong negative relationship</a:t>
            </a:r>
          </a:p>
          <a:p>
            <a:r>
              <a:rPr lang="en-US" sz="2400" dirty="0">
                <a:solidFill>
                  <a:schemeClr val="tx1"/>
                </a:solidFill>
              </a:rPr>
              <a:t>Higher mortality → weaker institutions</a:t>
            </a:r>
          </a:p>
        </p:txBody>
      </p:sp>
      <p:pic>
        <p:nvPicPr>
          <p:cNvPr id="9" name="Picture 8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25AB26D4-B80D-9C1C-1A2D-EF3A93630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2" r="-48" b="-4"/>
          <a:stretch>
            <a:fillRect/>
          </a:stretch>
        </p:blipFill>
        <p:spPr>
          <a:xfrm>
            <a:off x="1564348" y="2057285"/>
            <a:ext cx="3272104" cy="2271783"/>
          </a:xfrm>
          <a:prstGeom prst="rect">
            <a:avLst/>
          </a:prstGeom>
        </p:spPr>
      </p:pic>
      <p:pic>
        <p:nvPicPr>
          <p:cNvPr id="11" name="Picture 10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A4D7F02A-97D4-2BA4-A194-A31F7295A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" t="-1" r="1963" b="2"/>
          <a:stretch>
            <a:fillRect/>
          </a:stretch>
        </p:blipFill>
        <p:spPr>
          <a:xfrm>
            <a:off x="5137832" y="4421556"/>
            <a:ext cx="3272104" cy="2242887"/>
          </a:xfrm>
          <a:prstGeom prst="rect">
            <a:avLst/>
          </a:prstGeom>
        </p:spPr>
      </p:pic>
      <p:pic>
        <p:nvPicPr>
          <p:cNvPr id="5" name="Picture 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0B378805-16D8-D541-9CF8-51C08513E6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" r="-370" b="2"/>
          <a:stretch>
            <a:fillRect/>
          </a:stretch>
        </p:blipFill>
        <p:spPr>
          <a:xfrm>
            <a:off x="1560325" y="4392661"/>
            <a:ext cx="3276127" cy="2271783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F970C926-AD0D-2F81-B80B-763956BFC1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8" r="114" b="4"/>
          <a:stretch>
            <a:fillRect/>
          </a:stretch>
        </p:blipFill>
        <p:spPr>
          <a:xfrm>
            <a:off x="5137832" y="2048866"/>
            <a:ext cx="3272104" cy="23437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— Second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376516"/>
            <a:ext cx="8013290" cy="45347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Instrumented institutions</a:t>
            </a:r>
            <a:r>
              <a:rPr lang="en-US" sz="2400" dirty="0"/>
              <a:t> → </a:t>
            </a:r>
            <a:r>
              <a:rPr sz="2400" dirty="0"/>
              <a:t>strongly predict income</a:t>
            </a:r>
          </a:p>
          <a:p>
            <a:pPr>
              <a:lnSpc>
                <a:spcPct val="150000"/>
              </a:lnSpc>
            </a:pPr>
            <a:r>
              <a:rPr sz="2400" dirty="0"/>
              <a:t>Magnitude similar to original findings</a:t>
            </a:r>
          </a:p>
        </p:txBody>
      </p:sp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8C03D07F-C95B-178A-AC2D-76E6CF22D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604" y="2657406"/>
            <a:ext cx="5733283" cy="4010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3938" y="1543665"/>
            <a:ext cx="7030462" cy="43675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Reduced form: mortality negatively linked with income</a:t>
            </a:r>
          </a:p>
        </p:txBody>
      </p:sp>
      <p:pic>
        <p:nvPicPr>
          <p:cNvPr id="5" name="Picture 4" descr="A graph of the origin of development&#10;&#10;AI-generated content may be incorrect.">
            <a:extLst>
              <a:ext uri="{FF2B5EF4-FFF2-40B4-BE49-F238E27FC236}">
                <a16:creationId xmlns:a16="http://schemas.microsoft.com/office/drawing/2014/main" id="{FBA02EDB-F53D-62FD-0CB0-7A2559215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38" y="2902298"/>
            <a:ext cx="6136123" cy="36906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Robustness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5" y="1199535"/>
            <a:ext cx="8514590" cy="25367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Exclude outliers: results stable</a:t>
            </a:r>
          </a:p>
          <a:p>
            <a:pPr>
              <a:lnSpc>
                <a:spcPct val="150000"/>
              </a:lnSpc>
            </a:pPr>
            <a:r>
              <a:rPr sz="2400" dirty="0"/>
              <a:t>Add controls: geography, disease, colonizer identity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0BE2AC-5675-195E-3923-A274A1EFD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2585884"/>
            <a:ext cx="4208710" cy="403272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A6FE5D-02C7-6462-FE6D-0C62E37D9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386" y="2585885"/>
            <a:ext cx="4076649" cy="39516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Critiques &amp; Debates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587" y="1553497"/>
            <a:ext cx="7806813" cy="4357725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sz="2400" dirty="0"/>
              <a:t>Instrument validity questioned (</a:t>
            </a:r>
            <a:r>
              <a:rPr sz="2400" dirty="0" err="1"/>
              <a:t>Albouy</a:t>
            </a:r>
            <a:r>
              <a:rPr sz="2400" dirty="0"/>
              <a:t> 2012)</a:t>
            </a:r>
          </a:p>
          <a:p>
            <a:pPr lvl="1">
              <a:lnSpc>
                <a:spcPct val="150000"/>
              </a:lnSpc>
            </a:pPr>
            <a:r>
              <a:rPr sz="2400" dirty="0"/>
              <a:t>Mortality data quality issues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Checked alternative instruments – </a:t>
            </a:r>
            <a:r>
              <a:rPr lang="en-US" sz="2400" dirty="0" err="1"/>
              <a:t>Sargan</a:t>
            </a:r>
            <a:r>
              <a:rPr lang="en-US" sz="2400" dirty="0"/>
              <a:t> test</a:t>
            </a:r>
            <a:endParaRPr sz="2400" dirty="0"/>
          </a:p>
        </p:txBody>
      </p:sp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5D927562-2572-2460-2156-FB1CA71D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28" y="3732359"/>
            <a:ext cx="7384550" cy="30063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Confirms general findings</a:t>
            </a:r>
            <a:r>
              <a:rPr lang="en-US" sz="2400" dirty="0"/>
              <a:t>, importance of institutions driving income differences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Strengthens credibility of IV</a:t>
            </a:r>
            <a:endParaRPr sz="2400" dirty="0"/>
          </a:p>
          <a:p>
            <a:pPr>
              <a:lnSpc>
                <a:spcPct val="150000"/>
              </a:lnSpc>
            </a:pPr>
            <a:r>
              <a:rPr sz="2400" dirty="0"/>
              <a:t>Highlights transparency &amp; limitations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Supports policy relevance</a:t>
            </a:r>
          </a:p>
          <a:p>
            <a:pPr>
              <a:lnSpc>
                <a:spcPct val="150000"/>
              </a:lnSpc>
            </a:pP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865" y="1337187"/>
            <a:ext cx="7295535" cy="526025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sz="2400" dirty="0"/>
              <a:t>Strengthening institutions may raise incomes</a:t>
            </a:r>
          </a:p>
          <a:p>
            <a:pPr>
              <a:lnSpc>
                <a:spcPct val="150000"/>
              </a:lnSpc>
            </a:pPr>
            <a:r>
              <a:rPr sz="2400" dirty="0"/>
              <a:t>Institutional reform is long‑run and difficult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200" dirty="0"/>
              <a:t>Must account for historical legacies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Pushes back on “geography is destiny”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Spurs policy/research focusing on: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Anti-corruption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Judicial independence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Tax administration and state capacity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Developing inclusive political institutions</a:t>
            </a:r>
            <a:endParaRPr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Science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743" y="1494503"/>
            <a:ext cx="7698658" cy="52307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Key paper for the value of transparency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Shapes development policy, and institutions research</a:t>
            </a:r>
          </a:p>
          <a:p>
            <a:pPr>
              <a:lnSpc>
                <a:spcPct val="150000"/>
              </a:lnSpc>
            </a:pPr>
            <a:r>
              <a:rPr sz="2400" dirty="0"/>
              <a:t>Value of shared data and reproducibility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verify claims,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identify limitations/challenge weak assumptions,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And improve future empirical strategies</a:t>
            </a:r>
            <a:endParaRPr sz="2000" dirty="0"/>
          </a:p>
          <a:p>
            <a:pPr>
              <a:lnSpc>
                <a:spcPct val="150000"/>
              </a:lnSpc>
            </a:pPr>
            <a:r>
              <a:rPr sz="2400" dirty="0"/>
              <a:t>Replications increase credibility</a:t>
            </a:r>
            <a:r>
              <a:rPr lang="en-US" sz="2400" dirty="0"/>
              <a:t>, field progresses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720645"/>
            <a:ext cx="7924800" cy="4876800"/>
          </a:xfrm>
        </p:spPr>
        <p:txBody>
          <a:bodyPr>
            <a:normAutofit/>
          </a:bodyPr>
          <a:lstStyle/>
          <a:p>
            <a:r>
              <a:rPr sz="2400" dirty="0"/>
              <a:t>Replication supports main conclusions</a:t>
            </a:r>
            <a:endParaRPr lang="en-US" sz="2400" dirty="0"/>
          </a:p>
          <a:p>
            <a:pPr lvl="1"/>
            <a:r>
              <a:rPr lang="en-US" sz="2000" dirty="0"/>
              <a:t>The core empirical relationships are robust</a:t>
            </a:r>
            <a:endParaRPr sz="2000" dirty="0"/>
          </a:p>
          <a:p>
            <a:r>
              <a:rPr sz="2400" dirty="0"/>
              <a:t>But debates about instrument remain</a:t>
            </a:r>
          </a:p>
          <a:p>
            <a:r>
              <a:rPr sz="2400" dirty="0"/>
              <a:t>Open science improves research quality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 algn="ctr">
              <a:buNone/>
            </a:pPr>
            <a:r>
              <a:rPr lang="en-US" sz="2400" b="1" dirty="0"/>
              <a:t>Overall Takeaway:</a:t>
            </a:r>
          </a:p>
          <a:p>
            <a:pPr marL="0" indent="0" algn="ctr">
              <a:buNone/>
            </a:pPr>
            <a:r>
              <a:rPr lang="en-US" sz="2400" dirty="0"/>
              <a:t>Institutions matter hugely — but </a:t>
            </a:r>
            <a:r>
              <a:rPr lang="en-US" sz="2400" i="1" dirty="0"/>
              <a:t>why</a:t>
            </a:r>
            <a:r>
              <a:rPr lang="en-US" sz="2400" dirty="0"/>
              <a:t> they differ, </a:t>
            </a:r>
            <a:r>
              <a:rPr lang="en-US" sz="2400" i="1" dirty="0"/>
              <a:t>how</a:t>
            </a:r>
            <a:r>
              <a:rPr lang="en-US" sz="2400" dirty="0"/>
              <a:t> they persist, and </a:t>
            </a:r>
            <a:r>
              <a:rPr lang="en-US" sz="2400" i="1" dirty="0"/>
              <a:t>how</a:t>
            </a:r>
            <a:r>
              <a:rPr lang="en-US" sz="2400" dirty="0"/>
              <a:t> to change them remains central challenges.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3056</TotalTime>
  <Words>407</Words>
  <Application>Microsoft Macintosh PowerPoint</Application>
  <PresentationFormat>On-screen Show (4:3)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Wisp</vt:lpstr>
      <vt:lpstr>Replication of Acemoglu’s Colonial Origins of Comparative Development Paper</vt:lpstr>
      <vt:lpstr>Background &amp; Motivation</vt:lpstr>
      <vt:lpstr>Data &amp; Variables</vt:lpstr>
      <vt:lpstr>Data &amp; Variables II</vt:lpstr>
      <vt:lpstr>Econometric Model I (OLS)</vt:lpstr>
      <vt:lpstr>Econometric Model II (2SLS)</vt:lpstr>
      <vt:lpstr>Replication Approach</vt:lpstr>
      <vt:lpstr>Replication: First Stage</vt:lpstr>
      <vt:lpstr>Replication — Second Stage</vt:lpstr>
      <vt:lpstr>Replication Plot</vt:lpstr>
      <vt:lpstr>Robustness Tests</vt:lpstr>
      <vt:lpstr>Critiques &amp; Debates</vt:lpstr>
      <vt:lpstr>Replication Value</vt:lpstr>
      <vt:lpstr>Policy Implications</vt:lpstr>
      <vt:lpstr>Open Science Lessons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Emily</dc:creator>
  <cp:keywords/>
  <dc:description>generated using python-pptx</dc:description>
  <cp:lastModifiedBy>christian@pallasadvisors.com</cp:lastModifiedBy>
  <cp:revision>3</cp:revision>
  <dcterms:created xsi:type="dcterms:W3CDTF">2013-01-27T09:14:16Z</dcterms:created>
  <dcterms:modified xsi:type="dcterms:W3CDTF">2025-12-11T02:31:46Z</dcterms:modified>
  <cp:category/>
</cp:coreProperties>
</file>